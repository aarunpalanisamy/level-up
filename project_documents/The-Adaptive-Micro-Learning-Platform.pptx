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lice"/>
      <p:regular r:id="rId17"/>
    </p:embeddedFont>
    <p:embeddedFont>
      <p:font typeface="Alice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Lora"/>
      <p:regular r:id="rId21"/>
    </p:embeddedFont>
    <p:embeddedFont>
      <p:font typeface="Lora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7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0609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Adaptive Micro-Learning Platform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14380"/>
            <a:ext cx="53404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Future-Proofing Our Learning Technology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308872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mobile-first, AI-powered solution delivering personalized education through structured bite-sized courses. Our platform transforms how users learn any topic through 5–10 minute adaptive sessions, powered by generative AI for content creation, intelligent difficulty adjustment, and context-aware assistance.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9800"/>
            <a:ext cx="102106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Failures of Traditional Learning Systems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222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Fundamental technical and user experience flaws are driving the need for innovation in digital education platforms.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40261"/>
            <a:ext cx="6407944" cy="2032754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267075"/>
            <a:ext cx="32829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Long, Exhausting Content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757493"/>
            <a:ext cx="59543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Traditional courses force users through lengthy sessions that lead directly to high abandonment rates and low completion metrics.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040261"/>
            <a:ext cx="6408063" cy="2032754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</p:sp>
      <p:sp>
        <p:nvSpPr>
          <p:cNvPr id="8" name="Text 6"/>
          <p:cNvSpPr/>
          <p:nvPr/>
        </p:nvSpPr>
        <p:spPr>
          <a:xfrm>
            <a:off x="7655362" y="32670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Static Content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55362" y="3757493"/>
            <a:ext cx="59544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One-size-fits-all material cannot adapt to different learning levels, creating a fundamentally non-personalized experience.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299829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1" name="Text 9"/>
          <p:cNvSpPr/>
          <p:nvPr/>
        </p:nvSpPr>
        <p:spPr>
          <a:xfrm>
            <a:off x="1020604" y="5526643"/>
            <a:ext cx="35441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 Real-Time Doubt Solving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0604" y="6017062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Absence of immediate support mechanisms is a major factor causing user drop-off and learning frustration.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5299829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4" name="Text 12"/>
          <p:cNvSpPr/>
          <p:nvPr/>
        </p:nvSpPr>
        <p:spPr>
          <a:xfrm>
            <a:off x="7655362" y="55266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Not Mobile-First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55362" y="6017062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Legacy platforms lack optimization for the real-world agility and flexibility modern learners require.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612934"/>
            <a:ext cx="8760500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Our Vision &amp; Technical Positioning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0098" y="1866662"/>
            <a:ext cx="2786301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Vision Statement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780098" y="2437805"/>
            <a:ext cx="6943844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 make high-quality learning accessible in micro-sessions, personalized to each user's pace, language, and depth — using the power of Generative AI.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0098" y="3730466"/>
            <a:ext cx="2786301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Strategic Positioning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80098" y="4301609"/>
            <a:ext cx="6943844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This app positions our organization to lead in the next wave of AI-driven learning technology. We're building the most intuitive and adaptive learning companion in the market.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80098" y="5594271"/>
            <a:ext cx="2786301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Strategic Alignment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80098" y="6165413"/>
            <a:ext cx="6943844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critical opportunity to future-proof our learning platform and deliver measurable value through AI-powered adaptive education systems.</a:t>
            </a:r>
            <a:endParaRPr lang="en-US" sz="17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439" y="1894523"/>
            <a:ext cx="5582364" cy="55823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73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528" y="2651760"/>
            <a:ext cx="8241030" cy="543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Micro-Learning App: Core Capabilities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08528" y="3455789"/>
            <a:ext cx="13413343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mobile-first application leveraging Generative AI to deliver intelligent, personalized learning experiences.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08528" y="4190405"/>
            <a:ext cx="6619756" cy="1563886"/>
          </a:xfrm>
          <a:prstGeom prst="roundRect">
            <a:avLst>
              <a:gd name="adj" fmla="val 7016"/>
            </a:avLst>
          </a:prstGeom>
          <a:solidFill>
            <a:srgbClr val="FCFBF8"/>
          </a:solidFill>
          <a:ln/>
        </p:spPr>
      </p:sp>
      <p:sp>
        <p:nvSpPr>
          <p:cNvPr id="6" name="Shape 3"/>
          <p:cNvSpPr/>
          <p:nvPr/>
        </p:nvSpPr>
        <p:spPr>
          <a:xfrm>
            <a:off x="608528" y="4167545"/>
            <a:ext cx="6619756" cy="91440"/>
          </a:xfrm>
          <a:prstGeom prst="roundRect">
            <a:avLst>
              <a:gd name="adj" fmla="val 28526"/>
            </a:avLst>
          </a:prstGeom>
          <a:solidFill>
            <a:srgbClr val="1B5F39"/>
          </a:solidFill>
          <a:ln/>
        </p:spPr>
      </p:sp>
      <p:sp>
        <p:nvSpPr>
          <p:cNvPr id="7" name="Shape 4"/>
          <p:cNvSpPr/>
          <p:nvPr/>
        </p:nvSpPr>
        <p:spPr>
          <a:xfrm>
            <a:off x="3657540" y="3929658"/>
            <a:ext cx="521613" cy="521613"/>
          </a:xfrm>
          <a:prstGeom prst="roundRect">
            <a:avLst>
              <a:gd name="adj" fmla="val 175302"/>
            </a:avLst>
          </a:prstGeom>
          <a:solidFill>
            <a:srgbClr val="1B5F39"/>
          </a:solidFill>
          <a:ln/>
        </p:spPr>
      </p:sp>
      <p:sp>
        <p:nvSpPr>
          <p:cNvPr id="8" name="Text 5"/>
          <p:cNvSpPr/>
          <p:nvPr/>
        </p:nvSpPr>
        <p:spPr>
          <a:xfrm>
            <a:off x="3813989" y="4060031"/>
            <a:ext cx="20859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5220" y="4625102"/>
            <a:ext cx="2532578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Structured Micro-Courses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05220" y="5001101"/>
            <a:ext cx="6226373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generates organized, bite-sized content immediately upon search, breaking complex topics into digestible lessons.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402116" y="4190405"/>
            <a:ext cx="6619756" cy="1563886"/>
          </a:xfrm>
          <a:prstGeom prst="roundRect">
            <a:avLst>
              <a:gd name="adj" fmla="val 7016"/>
            </a:avLst>
          </a:prstGeom>
          <a:solidFill>
            <a:srgbClr val="FCFBF8"/>
          </a:solidFill>
          <a:ln/>
        </p:spPr>
      </p:sp>
      <p:sp>
        <p:nvSpPr>
          <p:cNvPr id="12" name="Shape 9"/>
          <p:cNvSpPr/>
          <p:nvPr/>
        </p:nvSpPr>
        <p:spPr>
          <a:xfrm>
            <a:off x="7402116" y="4167545"/>
            <a:ext cx="6619756" cy="91440"/>
          </a:xfrm>
          <a:prstGeom prst="roundRect">
            <a:avLst>
              <a:gd name="adj" fmla="val 28526"/>
            </a:avLst>
          </a:prstGeom>
          <a:solidFill>
            <a:srgbClr val="1B5F39"/>
          </a:solidFill>
          <a:ln/>
        </p:spPr>
      </p:sp>
      <p:sp>
        <p:nvSpPr>
          <p:cNvPr id="13" name="Shape 10"/>
          <p:cNvSpPr/>
          <p:nvPr/>
        </p:nvSpPr>
        <p:spPr>
          <a:xfrm>
            <a:off x="10451128" y="3929658"/>
            <a:ext cx="521613" cy="521613"/>
          </a:xfrm>
          <a:prstGeom prst="roundRect">
            <a:avLst>
              <a:gd name="adj" fmla="val 175302"/>
            </a:avLst>
          </a:prstGeom>
          <a:solidFill>
            <a:srgbClr val="1B5F39"/>
          </a:solidFill>
          <a:ln/>
        </p:spPr>
      </p:sp>
      <p:sp>
        <p:nvSpPr>
          <p:cNvPr id="14" name="Text 11"/>
          <p:cNvSpPr/>
          <p:nvPr/>
        </p:nvSpPr>
        <p:spPr>
          <a:xfrm>
            <a:off x="10607576" y="4060031"/>
            <a:ext cx="20859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598807" y="4625102"/>
            <a:ext cx="2643426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Dynamic Difficulty Control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598807" y="5001101"/>
            <a:ext cx="6226373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Users control content depth in real-time, adapting explanations from basics to advanced concepts on demand.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08528" y="6188869"/>
            <a:ext cx="6619756" cy="1563886"/>
          </a:xfrm>
          <a:prstGeom prst="roundRect">
            <a:avLst>
              <a:gd name="adj" fmla="val 7016"/>
            </a:avLst>
          </a:prstGeom>
          <a:solidFill>
            <a:srgbClr val="FCFBF8"/>
          </a:solidFill>
          <a:ln/>
        </p:spPr>
      </p:sp>
      <p:sp>
        <p:nvSpPr>
          <p:cNvPr id="18" name="Shape 15"/>
          <p:cNvSpPr/>
          <p:nvPr/>
        </p:nvSpPr>
        <p:spPr>
          <a:xfrm>
            <a:off x="608528" y="6166009"/>
            <a:ext cx="6619756" cy="91440"/>
          </a:xfrm>
          <a:prstGeom prst="roundRect">
            <a:avLst>
              <a:gd name="adj" fmla="val 28526"/>
            </a:avLst>
          </a:prstGeom>
          <a:solidFill>
            <a:srgbClr val="1B5F39"/>
          </a:solidFill>
          <a:ln/>
        </p:spPr>
      </p:sp>
      <p:sp>
        <p:nvSpPr>
          <p:cNvPr id="19" name="Shape 16"/>
          <p:cNvSpPr/>
          <p:nvPr/>
        </p:nvSpPr>
        <p:spPr>
          <a:xfrm>
            <a:off x="3657540" y="5928122"/>
            <a:ext cx="521613" cy="521613"/>
          </a:xfrm>
          <a:prstGeom prst="roundRect">
            <a:avLst>
              <a:gd name="adj" fmla="val 175302"/>
            </a:avLst>
          </a:prstGeom>
          <a:solidFill>
            <a:srgbClr val="1B5F39"/>
          </a:solidFill>
          <a:ln/>
        </p:spPr>
      </p:sp>
      <p:sp>
        <p:nvSpPr>
          <p:cNvPr id="20" name="Text 17"/>
          <p:cNvSpPr/>
          <p:nvPr/>
        </p:nvSpPr>
        <p:spPr>
          <a:xfrm>
            <a:off x="3813989" y="6058495"/>
            <a:ext cx="20859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05220" y="6623566"/>
            <a:ext cx="2204680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Context-Aware AI Chat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05220" y="6999565"/>
            <a:ext cx="6226373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Intelligent assistant provides immediate doubt resolution with full awareness of current course context.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7402116" y="6188869"/>
            <a:ext cx="6619756" cy="1563886"/>
          </a:xfrm>
          <a:prstGeom prst="roundRect">
            <a:avLst>
              <a:gd name="adj" fmla="val 7016"/>
            </a:avLst>
          </a:prstGeom>
          <a:solidFill>
            <a:srgbClr val="FCFBF8"/>
          </a:solidFill>
          <a:ln/>
        </p:spPr>
      </p:sp>
      <p:sp>
        <p:nvSpPr>
          <p:cNvPr id="24" name="Shape 21"/>
          <p:cNvSpPr/>
          <p:nvPr/>
        </p:nvSpPr>
        <p:spPr>
          <a:xfrm>
            <a:off x="7402116" y="6166009"/>
            <a:ext cx="6619756" cy="91440"/>
          </a:xfrm>
          <a:prstGeom prst="roundRect">
            <a:avLst>
              <a:gd name="adj" fmla="val 28526"/>
            </a:avLst>
          </a:prstGeom>
          <a:solidFill>
            <a:srgbClr val="1B5F39"/>
          </a:solidFill>
          <a:ln/>
        </p:spPr>
      </p:sp>
      <p:sp>
        <p:nvSpPr>
          <p:cNvPr id="25" name="Shape 22"/>
          <p:cNvSpPr/>
          <p:nvPr/>
        </p:nvSpPr>
        <p:spPr>
          <a:xfrm>
            <a:off x="10451128" y="5928122"/>
            <a:ext cx="521613" cy="521613"/>
          </a:xfrm>
          <a:prstGeom prst="roundRect">
            <a:avLst>
              <a:gd name="adj" fmla="val 175302"/>
            </a:avLst>
          </a:prstGeom>
          <a:solidFill>
            <a:srgbClr val="1B5F39"/>
          </a:solidFill>
          <a:ln/>
        </p:spPr>
      </p:sp>
      <p:sp>
        <p:nvSpPr>
          <p:cNvPr id="26" name="Text 23"/>
          <p:cNvSpPr/>
          <p:nvPr/>
        </p:nvSpPr>
        <p:spPr>
          <a:xfrm>
            <a:off x="10607576" y="6058495"/>
            <a:ext cx="20859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598807" y="6623566"/>
            <a:ext cx="2173605" cy="271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Skill Mapping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7598807" y="6999565"/>
            <a:ext cx="6226373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Post-course analytics deliver personalized insights into strengths, weaknesses, and improvement pathways.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272" y="363974"/>
            <a:ext cx="6771561" cy="41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Core Feature 1: Course Structure and Creation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3272" y="1108234"/>
            <a:ext cx="1654493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Course Hierarchy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63272" y="1447324"/>
            <a:ext cx="6690479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Course</a:t>
            </a:r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contains multiple Lessons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63272" y="1705451"/>
            <a:ext cx="6690479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Lesson</a:t>
            </a:r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contains multiple Topic Slides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3272" y="1963579"/>
            <a:ext cx="6690479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Optional quizzes embedded throughout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3272" y="2307669"/>
            <a:ext cx="1839278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Adaptivity via Attributes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3272" y="2646759"/>
            <a:ext cx="6690479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Four distinct modes determine generated content depth and quiz difficulty: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3272" y="2977634"/>
            <a:ext cx="6690479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highlight>
                  <a:srgbClr val="1B5F39"/>
                </a:highlight>
                <a:latin typeface="Lora" pitchFamily="34" charset="0"/>
                <a:ea typeface="Lora" pitchFamily="34" charset="-122"/>
                <a:cs typeface="Lora" pitchFamily="34" charset="-120"/>
              </a:rPr>
              <a:t>Interview</a:t>
            </a:r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Job-focused practical knowledge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3272" y="3235762"/>
            <a:ext cx="6690479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highlight>
                  <a:srgbClr val="1B5F39"/>
                </a:highlight>
                <a:latin typeface="Lora" pitchFamily="34" charset="0"/>
                <a:ea typeface="Lora" pitchFamily="34" charset="-122"/>
                <a:cs typeface="Lora" pitchFamily="34" charset="-120"/>
              </a:rPr>
              <a:t>Basics</a:t>
            </a:r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Foundational concepts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3272" y="3493889"/>
            <a:ext cx="6690479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highlight>
                  <a:srgbClr val="1B5F39"/>
                </a:highlight>
                <a:latin typeface="Lora" pitchFamily="34" charset="0"/>
                <a:ea typeface="Lora" pitchFamily="34" charset="-122"/>
                <a:cs typeface="Lora" pitchFamily="34" charset="-120"/>
              </a:rPr>
              <a:t>Deep Concepts</a:t>
            </a:r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Advanced theory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3272" y="3752017"/>
            <a:ext cx="6690479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highlight>
                  <a:srgbClr val="1B5F39"/>
                </a:highlight>
                <a:latin typeface="Lora" pitchFamily="34" charset="0"/>
                <a:ea typeface="Lora" pitchFamily="34" charset="-122"/>
                <a:cs typeface="Lora" pitchFamily="34" charset="-120"/>
              </a:rPr>
              <a:t>Learning</a:t>
            </a:r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Comprehensive understanding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84269" y="1108234"/>
            <a:ext cx="2334339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Table of Contents (TOC) Control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84269" y="1447324"/>
            <a:ext cx="6690479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Dynamic course organization puts learners in control: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84269" y="1778198"/>
            <a:ext cx="6690479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 display of all lessons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84269" y="2036326"/>
            <a:ext cx="6690479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Drag-and-drop reordering capability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84269" y="2294453"/>
            <a:ext cx="6690479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AI-recommended optimal lesson sequences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84269" y="2552581"/>
            <a:ext cx="6690479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progress tracking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4269" y="2913221"/>
            <a:ext cx="6690479" cy="66904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947" y="416481"/>
            <a:ext cx="8775978" cy="473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Core Feature 2: Adaptive Learning Within Each Slide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29947" y="1192530"/>
            <a:ext cx="1357050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Every learner, from beginner to advanced, receives content precisely tailored to their needs and learning style.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9947" y="1605082"/>
            <a:ext cx="605671" cy="908566"/>
          </a:xfrm>
          <a:prstGeom prst="roundRect">
            <a:avLst>
              <a:gd name="adj" fmla="val 360030"/>
            </a:avLst>
          </a:prstGeom>
          <a:solidFill>
            <a:srgbClr val="F0EDE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257" y="1945719"/>
            <a:ext cx="227052" cy="2270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6947" y="1756410"/>
            <a:ext cx="1892856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Increase Difficulty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86947" y="2083832"/>
            <a:ext cx="1281350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Seamlessly transitions to deeper explanations with more complex examples and advanced concepts.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29947" y="2664976"/>
            <a:ext cx="605671" cy="908566"/>
          </a:xfrm>
          <a:prstGeom prst="roundRect">
            <a:avLst>
              <a:gd name="adj" fmla="val 360030"/>
            </a:avLst>
          </a:prstGeom>
          <a:solidFill>
            <a:srgbClr val="F0EDE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257" y="3005614"/>
            <a:ext cx="227052" cy="2270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6947" y="2816304"/>
            <a:ext cx="1892856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Explain More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86947" y="3143726"/>
            <a:ext cx="1281350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Expands into comprehensive long-form content with detailed breakdowns and additional context.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29947" y="3724870"/>
            <a:ext cx="605671" cy="908566"/>
          </a:xfrm>
          <a:prstGeom prst="roundRect">
            <a:avLst>
              <a:gd name="adj" fmla="val 360030"/>
            </a:avLst>
          </a:prstGeom>
          <a:solidFill>
            <a:srgbClr val="F0EDE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257" y="4065508"/>
            <a:ext cx="227052" cy="2270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6947" y="3876199"/>
            <a:ext cx="1892856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Analogy Mode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86947" y="4203621"/>
            <a:ext cx="1281350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Explains topics using simple, relatable real-life analogies for intuitive understanding.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29947" y="4784765"/>
            <a:ext cx="605671" cy="908566"/>
          </a:xfrm>
          <a:prstGeom prst="roundRect">
            <a:avLst>
              <a:gd name="adj" fmla="val 360030"/>
            </a:avLst>
          </a:prstGeom>
          <a:solidFill>
            <a:srgbClr val="F0EDE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9257" y="5125403"/>
            <a:ext cx="227052" cy="2270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6947" y="4936093"/>
            <a:ext cx="1892856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Reverse Learning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86947" y="5263515"/>
            <a:ext cx="1281350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Teaches backwards from result to logic to foundation, perfect for problem-solving skills.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29947" y="5844659"/>
            <a:ext cx="605671" cy="908566"/>
          </a:xfrm>
          <a:prstGeom prst="roundRect">
            <a:avLst>
              <a:gd name="adj" fmla="val 360030"/>
            </a:avLst>
          </a:prstGeom>
          <a:solidFill>
            <a:srgbClr val="F0EDE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9257" y="6185297"/>
            <a:ext cx="227052" cy="22705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6947" y="5995988"/>
            <a:ext cx="1892856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Hands-On Mode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286947" y="6323409"/>
            <a:ext cx="1281350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Generates small practical exercises for immediate application and skill reinforcement.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29947" y="6904553"/>
            <a:ext cx="605671" cy="908566"/>
          </a:xfrm>
          <a:prstGeom prst="roundRect">
            <a:avLst>
              <a:gd name="adj" fmla="val 360030"/>
            </a:avLst>
          </a:prstGeom>
          <a:solidFill>
            <a:srgbClr val="F0EDE6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9257" y="7245191"/>
            <a:ext cx="227052" cy="22705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86947" y="7055882"/>
            <a:ext cx="1892856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Story Mode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1286947" y="7383304"/>
            <a:ext cx="1281350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Transforms concepts into engaging narratives that enhance retention and engagement.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8163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Core Feature 3: AI Doubt Clarification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666167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Context-Aware Chat Window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601641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built-in AI assistant maintains full awareness of the current course, lesson, and specific slide context, enabling intelligent, relevant responses.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2666167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Intelligent Support Functions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3601641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Responds to prompts like "Explain again" or "Explain like I'm 5"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4769644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Detects confusion patterns from user behavior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5574744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Proactively suggests supplementary micro-lessons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674274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Provides alternative explanations automatically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474" y="587335"/>
            <a:ext cx="10921008" cy="66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Assessment, Analytics, and Remediation Loop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067753" y="2215753"/>
            <a:ext cx="6140529" cy="213479"/>
          </a:xfrm>
          <a:prstGeom prst="roundRect">
            <a:avLst>
              <a:gd name="adj" fmla="val 15007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747474" y="2002095"/>
            <a:ext cx="640675" cy="640675"/>
          </a:xfrm>
          <a:prstGeom prst="roundRect">
            <a:avLst>
              <a:gd name="adj" fmla="val 71362"/>
            </a:avLst>
          </a:prstGeom>
          <a:solidFill>
            <a:srgbClr val="F0EDE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7613" y="2162235"/>
            <a:ext cx="320278" cy="3202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953" y="2856309"/>
            <a:ext cx="3008471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Comprehensive Quizzing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60953" y="3318034"/>
            <a:ext cx="6033968" cy="102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Speed Quiz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for quick recall, </a:t>
            </a:r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Hard Mode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with no hints for mastery testing, and </a:t>
            </a:r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Revision Quiz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focusing exclusively on previously incorrect answers.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742158" y="1895475"/>
            <a:ext cx="6140648" cy="213479"/>
          </a:xfrm>
          <a:prstGeom prst="roundRect">
            <a:avLst>
              <a:gd name="adj" fmla="val 15007"/>
            </a:avLst>
          </a:prstGeom>
          <a:solidFill>
            <a:srgbClr val="F0EDE6"/>
          </a:solidFill>
          <a:ln/>
        </p:spPr>
      </p:sp>
      <p:sp>
        <p:nvSpPr>
          <p:cNvPr id="9" name="Shape 6"/>
          <p:cNvSpPr/>
          <p:nvPr/>
        </p:nvSpPr>
        <p:spPr>
          <a:xfrm>
            <a:off x="7421880" y="1681817"/>
            <a:ext cx="640675" cy="640675"/>
          </a:xfrm>
          <a:prstGeom prst="roundRect">
            <a:avLst>
              <a:gd name="adj" fmla="val 71362"/>
            </a:avLst>
          </a:prstGeom>
          <a:solidFill>
            <a:srgbClr val="F0EDE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2019" y="1841956"/>
            <a:ext cx="320278" cy="32027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5359" y="2536031"/>
            <a:ext cx="2669619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Skill Map Analytics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7635359" y="2997756"/>
            <a:ext cx="6034088" cy="102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Post-completion analysis identifies strong and weak topic areas, delivering a personalized improvement roadmap with actionable insights.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1067753" y="5303996"/>
            <a:ext cx="6140529" cy="213479"/>
          </a:xfrm>
          <a:prstGeom prst="roundRect">
            <a:avLst>
              <a:gd name="adj" fmla="val 15007"/>
            </a:avLst>
          </a:prstGeom>
          <a:solidFill>
            <a:srgbClr val="F0EDE6"/>
          </a:solidFill>
          <a:ln/>
        </p:spPr>
      </p:sp>
      <p:sp>
        <p:nvSpPr>
          <p:cNvPr id="14" name="Shape 10"/>
          <p:cNvSpPr/>
          <p:nvPr/>
        </p:nvSpPr>
        <p:spPr>
          <a:xfrm>
            <a:off x="747474" y="5090339"/>
            <a:ext cx="640675" cy="640675"/>
          </a:xfrm>
          <a:prstGeom prst="roundRect">
            <a:avLst>
              <a:gd name="adj" fmla="val 71362"/>
            </a:avLst>
          </a:prstGeom>
          <a:solidFill>
            <a:srgbClr val="F0EDE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7613" y="5250478"/>
            <a:ext cx="320278" cy="32027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953" y="5944553"/>
            <a:ext cx="2669619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Targeted Remediation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960953" y="6406277"/>
            <a:ext cx="6033968" cy="102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Fix-in-15 Micro Lessons: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AI-generated quick explainers with 2–3 practice questions, triggered after assessments to reinforce weak areas immediately.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742158" y="4983718"/>
            <a:ext cx="6140648" cy="213479"/>
          </a:xfrm>
          <a:prstGeom prst="roundRect">
            <a:avLst>
              <a:gd name="adj" fmla="val 15007"/>
            </a:avLst>
          </a:prstGeom>
          <a:solidFill>
            <a:srgbClr val="F0EDE6"/>
          </a:solidFill>
          <a:ln/>
        </p:spPr>
      </p:sp>
      <p:sp>
        <p:nvSpPr>
          <p:cNvPr id="19" name="Shape 14"/>
          <p:cNvSpPr/>
          <p:nvPr/>
        </p:nvSpPr>
        <p:spPr>
          <a:xfrm>
            <a:off x="7421880" y="4770060"/>
            <a:ext cx="640675" cy="640675"/>
          </a:xfrm>
          <a:prstGeom prst="roundRect">
            <a:avLst>
              <a:gd name="adj" fmla="val 71362"/>
            </a:avLst>
          </a:prstGeom>
          <a:solidFill>
            <a:srgbClr val="F0EDE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2019" y="4930200"/>
            <a:ext cx="320278" cy="32027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35359" y="5624274"/>
            <a:ext cx="2669619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Continuous Learning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7635359" y="6085999"/>
            <a:ext cx="6034088" cy="102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Daily Learning Capsules: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Automatically generated 3–5 minute sessions based on ongoing topics and weak areas for sustained skill development.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602" y="343019"/>
            <a:ext cx="5007888" cy="38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AI-Powered Background Experience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36602" y="1044416"/>
            <a:ext cx="1559362" cy="194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Purpose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6602" y="1363980"/>
            <a:ext cx="6023253" cy="39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Improve attention, reduce cognitive fatigue, and deliver a premium educational feel through intelligent visual design.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6602" y="1887736"/>
            <a:ext cx="1559362" cy="194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Visual Mechanism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6602" y="2207300"/>
            <a:ext cx="6023253" cy="199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Soft, ambient topic-related illustrations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6602" y="2450425"/>
            <a:ext cx="6023253" cy="199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Animated gradients with low-opacity concept maps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6602" y="2693551"/>
            <a:ext cx="6023253" cy="199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Memory-anchor icons for retention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6602" y="2936677"/>
            <a:ext cx="6023253" cy="199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Dynamic depth signals for complexity levels</a:t>
            </a:r>
            <a:endParaRPr lang="en-US" sz="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1799" y="1060013"/>
            <a:ext cx="7429500" cy="74295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36602" y="8770025"/>
            <a:ext cx="4502587" cy="1217414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12" name="Shape 9"/>
          <p:cNvSpPr/>
          <p:nvPr/>
        </p:nvSpPr>
        <p:spPr>
          <a:xfrm>
            <a:off x="561261" y="8894683"/>
            <a:ext cx="374213" cy="374213"/>
          </a:xfrm>
          <a:prstGeom prst="roundRect">
            <a:avLst>
              <a:gd name="adj" fmla="val 24432838"/>
            </a:avLst>
          </a:prstGeom>
          <a:solidFill>
            <a:srgbClr val="1B5F3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31" y="8997553"/>
            <a:ext cx="168354" cy="1683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1261" y="9393555"/>
            <a:ext cx="1660803" cy="194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Multi-language Support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61261" y="9663232"/>
            <a:ext cx="4253270" cy="199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Comprehensive language options for global accessibility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063847" y="8770025"/>
            <a:ext cx="4502587" cy="1217414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17" name="Shape 13"/>
          <p:cNvSpPr/>
          <p:nvPr/>
        </p:nvSpPr>
        <p:spPr>
          <a:xfrm>
            <a:off x="5188506" y="8894683"/>
            <a:ext cx="374213" cy="374213"/>
          </a:xfrm>
          <a:prstGeom prst="roundRect">
            <a:avLst>
              <a:gd name="adj" fmla="val 24432838"/>
            </a:avLst>
          </a:prstGeom>
          <a:solidFill>
            <a:srgbClr val="1B5F3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1376" y="8997553"/>
            <a:ext cx="168354" cy="16835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8506" y="9393555"/>
            <a:ext cx="1559362" cy="194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Progress Tracking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188506" y="9663232"/>
            <a:ext cx="4253270" cy="199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Integrated analytics across all learning activities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9691092" y="8770025"/>
            <a:ext cx="4502587" cy="1217414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22" name="Shape 17"/>
          <p:cNvSpPr/>
          <p:nvPr/>
        </p:nvSpPr>
        <p:spPr>
          <a:xfrm>
            <a:off x="9815751" y="8894683"/>
            <a:ext cx="374213" cy="374213"/>
          </a:xfrm>
          <a:prstGeom prst="roundRect">
            <a:avLst>
              <a:gd name="adj" fmla="val 24432838"/>
            </a:avLst>
          </a:prstGeom>
          <a:solidFill>
            <a:srgbClr val="1B5F3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18621" y="8997553"/>
            <a:ext cx="168354" cy="16835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15751" y="9393555"/>
            <a:ext cx="1559362" cy="194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Offline Mode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815751" y="9663232"/>
            <a:ext cx="4253270" cy="199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Planned for Phase 3 implementation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31932" y="451961"/>
            <a:ext cx="5354598" cy="397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High-Level Implementation Roadmap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931932" y="1040606"/>
            <a:ext cx="825293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Strategic phased approach ensuring rapid MVP delivery while building toward comprehensive platform capabilities.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75045" y="1387316"/>
            <a:ext cx="15240" cy="6390323"/>
          </a:xfrm>
          <a:prstGeom prst="roundRect">
            <a:avLst>
              <a:gd name="adj" fmla="val 125301"/>
            </a:avLst>
          </a:prstGeom>
          <a:solidFill>
            <a:srgbClr val="D6D3CC"/>
          </a:solidFill>
          <a:ln/>
        </p:spPr>
      </p:sp>
      <p:sp>
        <p:nvSpPr>
          <p:cNvPr id="6" name="Shape 3"/>
          <p:cNvSpPr/>
          <p:nvPr/>
        </p:nvSpPr>
        <p:spPr>
          <a:xfrm>
            <a:off x="6202978" y="1522809"/>
            <a:ext cx="381833" cy="15240"/>
          </a:xfrm>
          <a:prstGeom prst="roundRect">
            <a:avLst>
              <a:gd name="adj" fmla="val 125301"/>
            </a:avLst>
          </a:prstGeom>
          <a:solidFill>
            <a:srgbClr val="D6D3CC"/>
          </a:solidFill>
          <a:ln/>
        </p:spPr>
      </p:sp>
      <p:sp>
        <p:nvSpPr>
          <p:cNvPr id="7" name="Shape 4"/>
          <p:cNvSpPr/>
          <p:nvPr/>
        </p:nvSpPr>
        <p:spPr>
          <a:xfrm>
            <a:off x="5931872" y="1387316"/>
            <a:ext cx="286345" cy="286345"/>
          </a:xfrm>
          <a:prstGeom prst="roundRect">
            <a:avLst>
              <a:gd name="adj" fmla="val 6669"/>
            </a:avLst>
          </a:prstGeom>
          <a:solidFill>
            <a:srgbClr val="F0EDE6"/>
          </a:solidFill>
          <a:ln/>
        </p:spPr>
      </p:sp>
      <p:sp>
        <p:nvSpPr>
          <p:cNvPr id="8" name="Text 5"/>
          <p:cNvSpPr/>
          <p:nvPr/>
        </p:nvSpPr>
        <p:spPr>
          <a:xfrm>
            <a:off x="5979557" y="1411129"/>
            <a:ext cx="190857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711672" y="1431012"/>
            <a:ext cx="1591270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Phase 1: MVP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711672" y="1706285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8–10 weeks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711672" y="1986201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Course generation engine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711672" y="2234327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Slide-based learning interface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11672" y="2482453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Difficulty controls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11672" y="2730579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Quiz modes implementation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711672" y="2978706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Context-aware AI chat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11672" y="3226832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Multi-language support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11672" y="3474958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Basic analytics dashboard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02978" y="4068604"/>
            <a:ext cx="381833" cy="15240"/>
          </a:xfrm>
          <a:prstGeom prst="roundRect">
            <a:avLst>
              <a:gd name="adj" fmla="val 125301"/>
            </a:avLst>
          </a:prstGeom>
          <a:solidFill>
            <a:srgbClr val="D6D3CC"/>
          </a:solidFill>
          <a:ln/>
        </p:spPr>
      </p:sp>
      <p:sp>
        <p:nvSpPr>
          <p:cNvPr id="19" name="Shape 16"/>
          <p:cNvSpPr/>
          <p:nvPr/>
        </p:nvSpPr>
        <p:spPr>
          <a:xfrm>
            <a:off x="5931872" y="3933111"/>
            <a:ext cx="286345" cy="286345"/>
          </a:xfrm>
          <a:prstGeom prst="roundRect">
            <a:avLst>
              <a:gd name="adj" fmla="val 6669"/>
            </a:avLst>
          </a:prstGeom>
          <a:solidFill>
            <a:srgbClr val="F0EDE6"/>
          </a:solidFill>
          <a:ln/>
        </p:spPr>
      </p:sp>
      <p:sp>
        <p:nvSpPr>
          <p:cNvPr id="20" name="Text 17"/>
          <p:cNvSpPr/>
          <p:nvPr/>
        </p:nvSpPr>
        <p:spPr>
          <a:xfrm>
            <a:off x="5979557" y="3956923"/>
            <a:ext cx="190857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711672" y="3976807"/>
            <a:ext cx="1594604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Phase 2: Enhancement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711672" y="4252079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10–14 weeks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711672" y="4531995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Daily learning capsules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711672" y="4780121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Fix-in-15 micro lessons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711672" y="5028248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Skill map dashboard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711672" y="5276374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Background visualization engine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711672" y="5524500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Advanced personalization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202978" y="6118146"/>
            <a:ext cx="381833" cy="15240"/>
          </a:xfrm>
          <a:prstGeom prst="roundRect">
            <a:avLst>
              <a:gd name="adj" fmla="val 125301"/>
            </a:avLst>
          </a:prstGeom>
          <a:solidFill>
            <a:srgbClr val="D6D3CC"/>
          </a:solidFill>
          <a:ln/>
        </p:spPr>
      </p:sp>
      <p:sp>
        <p:nvSpPr>
          <p:cNvPr id="29" name="Shape 26"/>
          <p:cNvSpPr/>
          <p:nvPr/>
        </p:nvSpPr>
        <p:spPr>
          <a:xfrm>
            <a:off x="5931872" y="5982652"/>
            <a:ext cx="286345" cy="286345"/>
          </a:xfrm>
          <a:prstGeom prst="roundRect">
            <a:avLst>
              <a:gd name="adj" fmla="val 6669"/>
            </a:avLst>
          </a:prstGeom>
          <a:solidFill>
            <a:srgbClr val="F0EDE6"/>
          </a:solidFill>
          <a:ln/>
        </p:spPr>
      </p:sp>
      <p:sp>
        <p:nvSpPr>
          <p:cNvPr id="30" name="Text 27"/>
          <p:cNvSpPr/>
          <p:nvPr/>
        </p:nvSpPr>
        <p:spPr>
          <a:xfrm>
            <a:off x="5979557" y="6006465"/>
            <a:ext cx="190857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711672" y="6026348"/>
            <a:ext cx="1591270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Phase 3: Future State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711672" y="6301621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TBD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711672" y="6581537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Offline mode capability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711672" y="6829663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Advanced quiz modes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711672" y="7077789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Enhanced lesson library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711672" y="7325916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Refined personalization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711672" y="7574042"/>
            <a:ext cx="747319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Enterprise features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2025-11-22T02:15:58Z</dcterms:created>
  <dcterms:modified xsi:type="dcterms:W3CDTF">2025-11-22T02:15:58Z</dcterms:modified>
</cp:coreProperties>
</file>